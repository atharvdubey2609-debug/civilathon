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A9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7A4B"/>
                </a:solidFill>
                <a:latin typeface="Aptos Display"/>
              </a:defRPr>
            </a:pPr>
            <a:r>
              <a:t>ENGINEERS’ DAY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7899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0F2A4E"/>
                </a:solidFill>
                <a:latin typeface="Aptos Display"/>
              </a:defRPr>
            </a:pPr>
            <a:r>
              <a:t>From Land to Digital 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2937"/>
                </a:solidFill>
                <a:latin typeface="Aptos"/>
              </a:defRPr>
            </a:pPr>
            <a:r>
              <a:t>AI–GIS Based Smart Land Survey &amp; Property Mapping for a Self-Reliant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1920240" cy="841248"/>
          </a:xfrm>
          <a:prstGeom prst="roundRect">
            <a:avLst/>
          </a:prstGeom>
          <a:solidFill>
            <a:srgbClr val="E2EEFA"/>
          </a:solidFill>
          <a:ln w="19050">
            <a:solidFill>
              <a:srgbClr val="20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GNSS / GPS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886200"/>
            <a:ext cx="1920240" cy="841248"/>
          </a:xfrm>
          <a:prstGeom prst="roundRect">
            <a:avLst/>
          </a:prstGeom>
          <a:solidFill>
            <a:srgbClr val="E5F4EB"/>
          </a:solidFill>
          <a:ln w="19050"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DRONE</a:t>
            </a:r>
            <a:br/>
            <a:r>
              <a:t>SURVEY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3886200"/>
            <a:ext cx="1920240" cy="841248"/>
          </a:xfrm>
          <a:prstGeom prst="roundRect">
            <a:avLst/>
          </a:prstGeom>
          <a:solidFill>
            <a:srgbClr val="E2EEFA"/>
          </a:solidFill>
          <a:ln w="19050">
            <a:solidFill>
              <a:srgbClr val="20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SATELLITE</a:t>
            </a:r>
            <a:br/>
            <a:r>
              <a:t>IMAGERY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886200"/>
            <a:ext cx="1920240" cy="841248"/>
          </a:xfrm>
          <a:prstGeom prst="roundRect">
            <a:avLst/>
          </a:prstGeom>
          <a:solidFill>
            <a:srgbClr val="E5F4EB"/>
          </a:solidFill>
          <a:ln w="19050"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GIS + AI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4306824"/>
            <a:ext cx="347472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66360" y="4306824"/>
            <a:ext cx="347472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4306824"/>
            <a:ext cx="347473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12680" y="3794760"/>
            <a:ext cx="1417320" cy="960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DA9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A4E"/>
                </a:solidFill>
                <a:latin typeface="Aptos"/>
              </a:defRPr>
            </a:pPr>
            <a:r>
              <a:t>SMART</a:t>
            </a:r>
            <a:br/>
            <a:r>
              <a:t>PROPERTY</a:t>
            </a:r>
            <a:br/>
            <a:r>
              <a:t>MAP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57232" y="4306824"/>
            <a:ext cx="137160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5532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978"/>
                </a:solidFill>
              </a:defRPr>
            </a:pPr>
            <a:r>
              <a:t>Presented by: ____________________  |  Civil 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  <a:latin typeface="Aptos"/>
              </a:defRPr>
            </a:pPr>
            <a:r>
              <a:t>AI + GIS + Surveying | Engineering Excellence for Atmanirbhar Bharat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1.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7E6F5"/>
                </a:solidFill>
                <a:latin typeface="Aptos"/>
              </a:defRPr>
            </a:pPr>
            <a:r>
              <a:t>Why change is needed?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474720" cy="4480560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4480560"/>
          </a:xfrm>
          <a:prstGeom prst="rect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89304"/>
            <a:ext cx="31272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2A4E"/>
                </a:solidFill>
                <a:latin typeface="Aptos Display"/>
              </a:defRPr>
            </a:pPr>
            <a:r>
              <a:t>Conventional Land Surveying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37360"/>
            <a:ext cx="312724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Manual measurements and field verification can require significant time, manpower and repeated visits.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74720" cy="4480560"/>
          </a:xfrm>
          <a:prstGeom prst="roundRect">
            <a:avLst/>
          </a:prstGeom>
          <a:solidFill>
            <a:srgbClr val="E5F4EB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73152" cy="4480560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289304"/>
            <a:ext cx="31272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2A4E"/>
                </a:solidFill>
                <a:latin typeface="Aptos Display"/>
              </a:defRPr>
            </a:pPr>
            <a:r>
              <a:t>Data Fragmentation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737360"/>
            <a:ext cx="312724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Maps, survey observations and administrative information may exist in separate systems, making integrated analysis difficult.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3474720" cy="4480560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43000"/>
            <a:ext cx="73152" cy="4480560"/>
          </a:xfrm>
          <a:prstGeom prst="rect">
            <a:avLst/>
          </a:prstGeom>
          <a:solidFill>
            <a:srgbClr val="DA9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289304"/>
            <a:ext cx="31272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2A4E"/>
                </a:solidFill>
                <a:latin typeface="Aptos Display"/>
              </a:defRPr>
            </a:pPr>
            <a:r>
              <a:t>Changing Ground Reality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737360"/>
            <a:ext cx="312724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Buildings, roads and land use change continuously. Static or outdated maps may not reflect current conditions.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A4E"/>
                </a:solidFill>
              </a:defRPr>
            </a:pPr>
            <a:r>
              <a:t>Need: an accurate, digital and updateable land-information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  <a:latin typeface="Aptos"/>
              </a:defRPr>
            </a:pPr>
            <a:r>
              <a:t>AI + GIS + Surveying | Engineering Excellence for Atmanirbhar Bharat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2. Our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7E6F5"/>
                </a:solidFill>
                <a:latin typeface="Aptos"/>
              </a:defRPr>
            </a:pPr>
            <a:r>
              <a:t>One integrated engineering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965960" cy="914400"/>
          </a:xfrm>
          <a:prstGeom prst="roundRect">
            <a:avLst/>
          </a:prstGeom>
          <a:solidFill>
            <a:srgbClr val="E2EEFA"/>
          </a:solidFill>
          <a:ln w="19050">
            <a:solidFill>
              <a:srgbClr val="20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GNSS / GPS</a:t>
            </a:r>
            <a:br/>
            <a:r>
              <a:t>Ground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17320"/>
            <a:ext cx="1965960" cy="914400"/>
          </a:xfrm>
          <a:prstGeom prst="roundRect">
            <a:avLst/>
          </a:prstGeom>
          <a:solidFill>
            <a:srgbClr val="E5F4EB"/>
          </a:solidFill>
          <a:ln w="19050"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Drone</a:t>
            </a:r>
            <a:br/>
            <a:r>
              <a:t>Photogrammetry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17320"/>
            <a:ext cx="1965960" cy="914400"/>
          </a:xfrm>
          <a:prstGeom prst="roundRect">
            <a:avLst/>
          </a:prstGeom>
          <a:solidFill>
            <a:srgbClr val="E2EEFA"/>
          </a:solidFill>
          <a:ln w="19050">
            <a:solidFill>
              <a:srgbClr val="20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Satellite</a:t>
            </a:r>
            <a:br/>
            <a:r>
              <a:t>Imagery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417320"/>
            <a:ext cx="1965960" cy="914400"/>
          </a:xfrm>
          <a:prstGeom prst="roundRect">
            <a:avLst/>
          </a:prstGeom>
          <a:solidFill>
            <a:srgbClr val="E5F4EB"/>
          </a:solidFill>
          <a:ln w="19050"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GIS Data</a:t>
            </a:r>
            <a:br/>
            <a:r>
              <a:t>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417320"/>
            <a:ext cx="1965960" cy="91440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DA9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AI-Based</a:t>
            </a:r>
            <a:br/>
            <a:r>
              <a:t>Analysis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1874519"/>
            <a:ext cx="164592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92040" y="1874519"/>
            <a:ext cx="164591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1874519"/>
            <a:ext cx="164592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1874519"/>
            <a:ext cx="164592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3154680"/>
            <a:ext cx="6675120" cy="1143000"/>
          </a:xfrm>
          <a:prstGeom prst="roundRect">
            <a:avLst/>
          </a:prstGeom>
          <a:solidFill>
            <a:srgbClr val="0F2A4E"/>
          </a:solidFill>
          <a:ln w="19050"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SMART DIGITAL LAND MAP + PROPERTY DATABASE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2395728"/>
            <a:ext cx="0" cy="667512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" y="4709160"/>
            <a:ext cx="315468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4709160"/>
            <a:ext cx="73152" cy="1143000"/>
          </a:xfrm>
          <a:prstGeom prst="rect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855464"/>
            <a:ext cx="28072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E"/>
                </a:solidFill>
                <a:latin typeface="Aptos Display"/>
              </a:defRPr>
            </a:pPr>
            <a:r>
              <a:t>Survey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5303520"/>
            <a:ext cx="28072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Aptos"/>
              </a:defRPr>
            </a:pPr>
            <a:r>
              <a:t>Capture accurate spatial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709160"/>
            <a:ext cx="315468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4709160"/>
            <a:ext cx="73152" cy="1143000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4855464"/>
            <a:ext cx="28072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E"/>
                </a:solidFill>
                <a:latin typeface="Aptos Display"/>
              </a:defRPr>
            </a:pPr>
            <a: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5303520"/>
            <a:ext cx="28072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Aptos"/>
              </a:defRPr>
            </a:pPr>
            <a:r>
              <a:t>Detect features and changes with GIS + AI.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709160"/>
            <a:ext cx="315468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4709160"/>
            <a:ext cx="73152" cy="1143000"/>
          </a:xfrm>
          <a:prstGeom prst="rect">
            <a:avLst/>
          </a:prstGeom>
          <a:solidFill>
            <a:srgbClr val="DA9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4855464"/>
            <a:ext cx="28072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E"/>
                </a:solidFill>
                <a:latin typeface="Aptos Display"/>
              </a:defRPr>
            </a:pPr>
            <a: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5303520"/>
            <a:ext cx="28072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Aptos"/>
              </a:defRPr>
            </a:pPr>
            <a:r>
              <a:t>Support planning, monitoring and verification.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  <a:latin typeface="Aptos"/>
              </a:defRPr>
            </a:pPr>
            <a:r>
              <a:t>AI + GIS + Surveying | Engineering Excellence for Atmanirbhar Bharat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3. How the System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7E6F5"/>
                </a:solidFill>
                <a:latin typeface="Aptos"/>
              </a:defRPr>
            </a:pPr>
            <a:r>
              <a:t>End-to-end methodology</a:t>
            </a:r>
          </a:p>
        </p:txBody>
      </p:sp>
      <p:sp>
        <p:nvSpPr>
          <p:cNvPr id="6" name="Oval 5"/>
          <p:cNvSpPr/>
          <p:nvPr/>
        </p:nvSpPr>
        <p:spPr>
          <a:xfrm>
            <a:off x="1161288" y="1143000"/>
            <a:ext cx="502920" cy="502920"/>
          </a:xfrm>
          <a:prstGeom prst="ellipse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874519" cy="1143000"/>
          </a:xfrm>
          <a:prstGeom prst="roundRect">
            <a:avLst/>
          </a:prstGeom>
          <a:solidFill>
            <a:srgbClr val="E2EEFA"/>
          </a:solidFill>
          <a:ln w="19050">
            <a:solidFill>
              <a:srgbClr val="20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32004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978"/>
                </a:solidFill>
              </a:defRPr>
            </a:pPr>
            <a:r>
              <a:t>GNSS • drone • satellite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5728" y="2441448"/>
            <a:ext cx="374904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20439" y="1143000"/>
            <a:ext cx="502920" cy="502920"/>
          </a:xfrm>
          <a:prstGeom prst="ellipse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874519"/>
            <a:ext cx="1874519" cy="1143000"/>
          </a:xfrm>
          <a:prstGeom prst="roundRect">
            <a:avLst/>
          </a:prstGeom>
          <a:solidFill>
            <a:srgbClr val="E5F4EB"/>
          </a:solidFill>
          <a:ln w="19050"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32004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978"/>
                </a:solidFill>
              </a:defRPr>
            </a:pPr>
            <a:r>
              <a:t>Georeference • clean • align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79" y="2441448"/>
            <a:ext cx="374904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79592" y="1143000"/>
            <a:ext cx="502920" cy="502920"/>
          </a:xfrm>
          <a:prstGeom prst="ellipse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1874519"/>
            <a:ext cx="1874519" cy="1143000"/>
          </a:xfrm>
          <a:prstGeom prst="roundRect">
            <a:avLst/>
          </a:prstGeom>
          <a:solidFill>
            <a:srgbClr val="E2EEFA"/>
          </a:solidFill>
          <a:ln w="19050">
            <a:solidFill>
              <a:srgbClr val="20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GIS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32004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978"/>
                </a:solidFill>
              </a:defRPr>
            </a:pPr>
            <a:r>
              <a:t>Parcel polygons • layers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14031" y="2441448"/>
            <a:ext cx="374905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38744" y="1143000"/>
            <a:ext cx="502920" cy="502920"/>
          </a:xfrm>
          <a:prstGeom prst="ellipse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0376" y="1874519"/>
            <a:ext cx="1874519" cy="1143000"/>
          </a:xfrm>
          <a:prstGeom prst="roundRect">
            <a:avLst/>
          </a:prstGeom>
          <a:solidFill>
            <a:srgbClr val="E5F4EB"/>
          </a:solidFill>
          <a:ln w="19050"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AI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32004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978"/>
                </a:solidFill>
              </a:defRPr>
            </a:pPr>
            <a:r>
              <a:t>Feature extraction • change detection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73184" y="2441448"/>
            <a:ext cx="374904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597896" y="1143000"/>
            <a:ext cx="502920" cy="502920"/>
          </a:xfrm>
          <a:prstGeom prst="ellipse">
            <a:avLst/>
          </a:prstGeom>
          <a:solidFill>
            <a:srgbClr val="DA9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39528" y="1874519"/>
            <a:ext cx="1874519" cy="114300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DA9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4E"/>
                </a:solidFill>
                <a:latin typeface="Aptos"/>
              </a:defRPr>
            </a:pPr>
            <a:r>
              <a:t>DIGITAL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32004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978"/>
                </a:solidFill>
              </a:defRPr>
            </a:pPr>
            <a:r>
              <a:t>Property ID • area •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28700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343400"/>
            <a:ext cx="73152" cy="1143000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489704"/>
            <a:ext cx="99395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Key Engineering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937760"/>
            <a:ext cx="993952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AI is a decision-support layer; legal ownership and boundary validation remain subject to authorized records and professional verification.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  <a:latin typeface="Aptos"/>
              </a:defRPr>
            </a:pPr>
            <a:r>
              <a:t>AI + GIS + Surveying | Engineering Excellence for Atmanirbhar Bharat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4. AI-Based Change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7E6F5"/>
                </a:solidFill>
                <a:latin typeface="Aptos"/>
              </a:defRPr>
            </a:pPr>
            <a:r>
              <a:t>Turning repeated surveys into actionable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337560" cy="1874519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73152" cy="1874519"/>
          </a:xfrm>
          <a:prstGeom prst="rect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289304"/>
            <a:ext cx="299008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Earlier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Example: vacant parcel / existing built-up footprint.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37560"/>
            <a:ext cx="3337560" cy="1874519"/>
          </a:xfrm>
          <a:prstGeom prst="roundRect">
            <a:avLst/>
          </a:prstGeom>
          <a:solidFill>
            <a:srgbClr val="E5F4EB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337560"/>
            <a:ext cx="73152" cy="1874519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483864"/>
            <a:ext cx="299008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Latest Survey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3192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Example: new construction or changed land-use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331720"/>
            <a:ext cx="2926080" cy="114300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DA9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2A4E"/>
                </a:solidFill>
                <a:latin typeface="Aptos"/>
              </a:defRPr>
            </a:pPr>
            <a:r>
              <a:t>AI + IMAGE</a:t>
            </a:r>
            <a:br/>
            <a:r>
              <a:t>COMPARISON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41648" y="2084831"/>
            <a:ext cx="484632" cy="612649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041648" y="3108960"/>
            <a:ext cx="484632" cy="640079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46720" y="1325880"/>
            <a:ext cx="3337560" cy="12344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25880"/>
            <a:ext cx="73152" cy="1234440"/>
          </a:xfrm>
          <a:prstGeom prst="rect">
            <a:avLst/>
          </a:prstGeom>
          <a:solidFill>
            <a:srgbClr val="B5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472184"/>
            <a:ext cx="299008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A4E"/>
                </a:solidFill>
                <a:latin typeface="Aptos Display"/>
              </a:defRPr>
            </a:pPr>
            <a:r>
              <a:t>Possible Change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920240"/>
            <a:ext cx="29900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New building footprint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788920"/>
            <a:ext cx="3337560" cy="12344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788920"/>
            <a:ext cx="73152" cy="1234440"/>
          </a:xfrm>
          <a:prstGeom prst="rect">
            <a:avLst/>
          </a:prstGeom>
          <a:solidFill>
            <a:srgbClr val="B5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935224"/>
            <a:ext cx="299008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A4E"/>
                </a:solidFill>
                <a:latin typeface="Aptos Display"/>
              </a:defRPr>
            </a:pPr>
            <a:r>
              <a:t>Possible Change Flag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383279"/>
            <a:ext cx="29900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Road / land-use 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51960"/>
            <a:ext cx="3337560" cy="12344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251960"/>
            <a:ext cx="73152" cy="1234440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398264"/>
            <a:ext cx="299008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A4E"/>
                </a:solidFill>
                <a:latin typeface="Aptos Display"/>
              </a:defRPr>
            </a:pPr>
            <a: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846320"/>
            <a:ext cx="29900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Field verification by authorized team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498079" y="1920240"/>
            <a:ext cx="475489" cy="978408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98079" y="2898648"/>
            <a:ext cx="475489" cy="50292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98079" y="2898648"/>
            <a:ext cx="475489" cy="1947672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2A4E"/>
                </a:solidFill>
              </a:defRPr>
            </a:pPr>
            <a:r>
              <a:t>Goal: identify where attention is needed — not replace legal or professional verification.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  <a:latin typeface="Aptos"/>
              </a:defRPr>
            </a:pPr>
            <a:r>
              <a:t>AI + GIS + Surveying | Engineering Excellence for Atmanirbhar Bharat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5. Smart Property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7E6F5"/>
                </a:solidFill>
                <a:latin typeface="Aptos"/>
              </a:defRPr>
            </a:pPr>
            <a:r>
              <a:t>From geometry to a useful digital asset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10652760" cy="4526280"/>
          </a:xfrm>
          <a:prstGeom prst="roundRect">
            <a:avLst/>
          </a:prstGeom>
          <a:solidFill>
            <a:srgbClr val="F4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554480"/>
            <a:ext cx="5486400" cy="3611880"/>
          </a:xfrm>
          <a:prstGeom prst="rect">
            <a:avLst/>
          </a:prstGeom>
          <a:solidFill>
            <a:srgbClr val="EEF5EE"/>
          </a:solidFill>
          <a:ln>
            <a:solidFill>
              <a:srgbClr val="BE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331720"/>
            <a:ext cx="530352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572768"/>
            <a:ext cx="146304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572768"/>
            <a:ext cx="146304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25880" y="1783080"/>
            <a:ext cx="1234440" cy="502920"/>
          </a:xfrm>
          <a:prstGeom prst="rect">
            <a:avLst/>
          </a:prstGeom>
          <a:solidFill>
            <a:srgbClr val="DDEEE2"/>
          </a:solidFill>
          <a:ln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1783080"/>
            <a:ext cx="1600200" cy="502920"/>
          </a:xfrm>
          <a:prstGeom prst="rect">
            <a:avLst/>
          </a:prstGeom>
          <a:solidFill>
            <a:srgbClr val="DDEEE2"/>
          </a:solidFill>
          <a:ln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783080"/>
            <a:ext cx="1143000" cy="502920"/>
          </a:xfrm>
          <a:prstGeom prst="rect">
            <a:avLst/>
          </a:prstGeom>
          <a:solidFill>
            <a:srgbClr val="DDEEE2"/>
          </a:solidFill>
          <a:ln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25880" y="2651760"/>
            <a:ext cx="1234440" cy="914400"/>
          </a:xfrm>
          <a:prstGeom prst="rect">
            <a:avLst/>
          </a:prstGeom>
          <a:solidFill>
            <a:srgbClr val="DDEEE2"/>
          </a:solidFill>
          <a:ln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1800" y="2651760"/>
            <a:ext cx="1600200" cy="914400"/>
          </a:xfrm>
          <a:prstGeom prst="rect">
            <a:avLst/>
          </a:prstGeom>
          <a:solidFill>
            <a:srgbClr val="DDEEE2"/>
          </a:solidFill>
          <a:ln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2651760"/>
            <a:ext cx="1143000" cy="914400"/>
          </a:xfrm>
          <a:prstGeom prst="rect">
            <a:avLst/>
          </a:prstGeom>
          <a:solidFill>
            <a:srgbClr val="DDEEE2"/>
          </a:solidFill>
          <a:ln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3840480"/>
            <a:ext cx="1234440" cy="868680"/>
          </a:xfrm>
          <a:prstGeom prst="rect">
            <a:avLst/>
          </a:prstGeom>
          <a:solidFill>
            <a:srgbClr val="DDEEE2"/>
          </a:solidFill>
          <a:ln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" y="3840480"/>
            <a:ext cx="1600200" cy="868680"/>
          </a:xfrm>
          <a:prstGeom prst="rect">
            <a:avLst/>
          </a:prstGeom>
          <a:solidFill>
            <a:srgbClr val="DDEEE2"/>
          </a:solidFill>
          <a:ln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3840480"/>
            <a:ext cx="1143000" cy="868680"/>
          </a:xfrm>
          <a:prstGeom prst="rect">
            <a:avLst/>
          </a:prstGeom>
          <a:solidFill>
            <a:srgbClr val="DDEEE2"/>
          </a:solidFill>
          <a:ln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1554480"/>
            <a:ext cx="3886200" cy="749808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1554480"/>
            <a:ext cx="73152" cy="749808"/>
          </a:xfrm>
          <a:prstGeom prst="rect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1700784"/>
            <a:ext cx="35387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A4E"/>
                </a:solidFill>
                <a:latin typeface="Aptos Display"/>
              </a:defRPr>
            </a:pPr>
            <a:r>
              <a:t>PROPERTY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2148840"/>
            <a:ext cx="3538728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P-001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2487168"/>
            <a:ext cx="3886200" cy="749808"/>
          </a:xfrm>
          <a:prstGeom prst="roundRect">
            <a:avLst/>
          </a:prstGeom>
          <a:solidFill>
            <a:srgbClr val="E5F4EB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2487168"/>
            <a:ext cx="73152" cy="749808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2633472"/>
            <a:ext cx="35387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A4E"/>
                </a:solidFill>
                <a:latin typeface="Aptos Display"/>
              </a:defRPr>
            </a:pPr>
            <a:r>
              <a:t>AREA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3081528"/>
            <a:ext cx="3538728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Calculated from GIS geometry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419856"/>
            <a:ext cx="3886200" cy="749808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03720" y="3419856"/>
            <a:ext cx="73152" cy="749808"/>
          </a:xfrm>
          <a:prstGeom prst="rect">
            <a:avLst/>
          </a:prstGeom>
          <a:solidFill>
            <a:srgbClr val="DA9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04888" y="3566160"/>
            <a:ext cx="35387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A4E"/>
                </a:solidFill>
                <a:latin typeface="Aptos Display"/>
              </a:defRPr>
            </a:pPr>
            <a:r>
              <a:t>LAND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4014216"/>
            <a:ext cx="3538728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Residential / Mixed 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4352544"/>
            <a:ext cx="3886200" cy="7498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4352544"/>
            <a:ext cx="73152" cy="749808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04888" y="4498848"/>
            <a:ext cx="35387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A4E"/>
                </a:solidFill>
                <a:latin typeface="Aptos Display"/>
              </a:defRPr>
            </a:pPr>
            <a:r>
              <a:t>CHANGE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4946904"/>
            <a:ext cx="3538728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No change / Review required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806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A4E"/>
                </a:solidFill>
              </a:defRPr>
            </a:pPr>
            <a:r>
              <a:t>Each parcel becomes a traceable digital record that can support engineering decisions.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  <a:latin typeface="Aptos"/>
              </a:defRPr>
            </a:pPr>
            <a:r>
              <a:t>AI + GIS + Surveying | Engineering Excellence for Atmanirbhar Bharat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6. Engineering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7E6F5"/>
                </a:solidFill>
                <a:latin typeface="Aptos"/>
              </a:defRPr>
            </a:pPr>
            <a:r>
              <a:t>Where the system can create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2971800" cy="1691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1691640"/>
          </a:xfrm>
          <a:prstGeom prst="rect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35024"/>
            <a:ext cx="26243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Urban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26243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Building footprints • land-use maps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88720"/>
            <a:ext cx="2971800" cy="1691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188720"/>
            <a:ext cx="73152" cy="1691640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335024"/>
            <a:ext cx="26243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83080"/>
            <a:ext cx="26243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Roads • utilities • project planning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188720"/>
            <a:ext cx="2971800" cy="1691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188720"/>
            <a:ext cx="73152" cy="1691640"/>
          </a:xfrm>
          <a:prstGeom prst="rect">
            <a:avLst/>
          </a:prstGeom>
          <a:solidFill>
            <a:srgbClr val="DA9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1335024"/>
            <a:ext cx="26243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Rural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783080"/>
            <a:ext cx="26243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Village mapping • agricultural land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29000"/>
            <a:ext cx="2971800" cy="1691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73152" cy="1691640"/>
          </a:xfrm>
          <a:prstGeom prst="rect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75304"/>
            <a:ext cx="26243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Disaster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23360"/>
            <a:ext cx="26243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Flood-prone areas • exposed assets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429000"/>
            <a:ext cx="2971800" cy="1691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429000"/>
            <a:ext cx="73152" cy="1691640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575304"/>
            <a:ext cx="26243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Municipal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023360"/>
            <a:ext cx="26243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Property inventory • asset management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429000"/>
            <a:ext cx="2971800" cy="1691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3429000"/>
            <a:ext cx="73152" cy="1691640"/>
          </a:xfrm>
          <a:prstGeom prst="rect">
            <a:avLst/>
          </a:prstGeom>
          <a:solidFill>
            <a:srgbClr val="DA9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3575304"/>
            <a:ext cx="26243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Land-Use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023360"/>
            <a:ext cx="26243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Periodic change detection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  <a:latin typeface="Aptos"/>
              </a:defRPr>
            </a:pPr>
            <a:r>
              <a:t>AI + GIS + Surveying | Engineering Excellence for Atmanirbhar Bharat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7. Why It Matters for Atmanirbhar Bharat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7E6F5"/>
                </a:solidFill>
                <a:latin typeface="Aptos"/>
              </a:defRPr>
            </a:pPr>
            <a:r>
              <a:t>Engineering + technology + indigenous 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2194560" cy="914400"/>
          </a:xfrm>
          <a:prstGeom prst="roundRect">
            <a:avLst/>
          </a:prstGeom>
          <a:solidFill>
            <a:srgbClr val="E2EEFA"/>
          </a:solidFill>
          <a:ln w="19050">
            <a:solidFill>
              <a:srgbClr val="20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2A4E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188720"/>
            <a:ext cx="2194560" cy="914400"/>
          </a:xfrm>
          <a:prstGeom prst="roundRect">
            <a:avLst/>
          </a:prstGeom>
          <a:solidFill>
            <a:srgbClr val="E5F4EB"/>
          </a:solidFill>
          <a:ln w="19050">
            <a:solidFill>
              <a:srgbClr val="14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2A4E"/>
                </a:solidFill>
                <a:latin typeface="Aptos"/>
              </a:defRPr>
            </a:pPr>
            <a:r>
              <a:t>DIGITAL</a:t>
            </a:r>
            <a:br/>
            <a:r>
              <a:t>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188720"/>
            <a:ext cx="2194560" cy="91440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DA9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2A4E"/>
                </a:solidFill>
                <a:latin typeface="Aptos"/>
              </a:defRPr>
            </a:pPr>
            <a:r>
              <a:t>INDIAN</a:t>
            </a:r>
            <a:br/>
            <a:r>
              <a:t>CAPABILITY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1645920"/>
            <a:ext cx="1737360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23760" y="1645920"/>
            <a:ext cx="1737360" cy="0"/>
          </a:xfrm>
          <a:prstGeom prst="line">
            <a:avLst/>
          </a:prstGeom>
          <a:ln w="2540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" y="2788920"/>
            <a:ext cx="498348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788920"/>
            <a:ext cx="73152" cy="1143000"/>
          </a:xfrm>
          <a:prstGeom prst="rect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935224"/>
            <a:ext cx="46360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A4E"/>
                </a:solidFill>
                <a:latin typeface="Aptos Display"/>
              </a:defRPr>
            </a:pPr>
            <a:r>
              <a:t>Faster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83279"/>
            <a:ext cx="46360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Aptos"/>
              </a:defRPr>
            </a:pPr>
            <a:r>
              <a:t>Better spatial evidence for engineering and planning.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788920"/>
            <a:ext cx="498348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788920"/>
            <a:ext cx="73152" cy="1143000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935224"/>
            <a:ext cx="46360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A4E"/>
                </a:solidFill>
                <a:latin typeface="Aptos Display"/>
              </a:defRPr>
            </a:pPr>
            <a:r>
              <a:t>Reduced repetition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3383279"/>
            <a:ext cx="46360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Aptos"/>
              </a:defRPr>
            </a:pPr>
            <a:r>
              <a:t>Digital updates can target where field verification is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06240"/>
            <a:ext cx="498348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206240"/>
            <a:ext cx="73152" cy="1143000"/>
          </a:xfrm>
          <a:prstGeom prst="rect">
            <a:avLst/>
          </a:prstGeom>
          <a:solidFill>
            <a:srgbClr val="DA9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352544"/>
            <a:ext cx="46360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A4E"/>
                </a:solidFill>
                <a:latin typeface="Aptos Display"/>
              </a:defRPr>
            </a:pPr>
            <a:r>
              <a:t>Skilled 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800600"/>
            <a:ext cx="46360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Aptos"/>
              </a:defRPr>
            </a:pPr>
            <a:r>
              <a:t>Creates demand for surveyors, GIS engineers, drone operators and AI professionals.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206240"/>
            <a:ext cx="498348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4206240"/>
            <a:ext cx="73152" cy="1143000"/>
          </a:xfrm>
          <a:prstGeom prst="rect">
            <a:avLst/>
          </a:prstGeom>
          <a:solidFill>
            <a:srgbClr val="0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4352544"/>
            <a:ext cx="46360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A4E"/>
                </a:solidFill>
                <a:latin typeface="Aptos Display"/>
              </a:defRPr>
            </a:pPr>
            <a:r>
              <a:t>Scalable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4800600"/>
            <a:ext cx="46360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  <a:latin typeface="Aptos"/>
              </a:defRPr>
            </a:pPr>
            <a:r>
              <a:t>Can expand from a pilot area to city, district or state level.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F2A4E"/>
                </a:solidFill>
              </a:defRPr>
            </a:pPr>
            <a:r>
              <a:t>A self-reliant India needs reliable digital infrastructure as much as physical infrastructure.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  <a:latin typeface="Aptos"/>
              </a:defRPr>
            </a:pPr>
            <a:r>
              <a:t>AI + GIS + Surveying | Engineering Excellence for Atmanirbhar Bharat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A4E"/>
                </a:solidFill>
                <a:latin typeface="Aptos Display"/>
              </a:defRPr>
            </a:pPr>
            <a:r>
              <a:t>8.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613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7A4B"/>
                </a:solidFill>
                <a:latin typeface="Aptos Display"/>
              </a:defRPr>
            </a:pPr>
            <a:r>
              <a:t>“Every parcel of land can become a reliable digital asset for better engineering decisions.”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71800"/>
            <a:ext cx="3017520" cy="1417320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71800"/>
            <a:ext cx="73152" cy="1417320"/>
          </a:xfrm>
          <a:prstGeom prst="rect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118104"/>
            <a:ext cx="2670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ACCURATE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566160"/>
            <a:ext cx="267004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Modern surveying + GIS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971800"/>
            <a:ext cx="3017520" cy="1417320"/>
          </a:xfrm>
          <a:prstGeom prst="roundRect">
            <a:avLst/>
          </a:prstGeom>
          <a:solidFill>
            <a:srgbClr val="E5F4EB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971800"/>
            <a:ext cx="73152" cy="1417320"/>
          </a:xfrm>
          <a:prstGeom prst="rect">
            <a:avLst/>
          </a:prstGeom>
          <a:solidFill>
            <a:srgbClr val="14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3118104"/>
            <a:ext cx="2670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INTELLIGENT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566160"/>
            <a:ext cx="267004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AI-assisted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971800"/>
            <a:ext cx="3017520" cy="1417320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971800"/>
            <a:ext cx="73152" cy="1417320"/>
          </a:xfrm>
          <a:prstGeom prst="rect">
            <a:avLst/>
          </a:prstGeom>
          <a:solidFill>
            <a:srgbClr val="DA9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118104"/>
            <a:ext cx="2670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E"/>
                </a:solidFill>
                <a:latin typeface="Aptos Display"/>
              </a:defRPr>
            </a:pPr>
            <a:r>
              <a:t>ACTIONABLE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566160"/>
            <a:ext cx="267004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Planning +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98348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A4E"/>
                </a:solidFill>
              </a:defRPr>
            </a:pPr>
            <a:r>
              <a:t>Survey → Map → Analyze → Verify → 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71500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THANK YOU  |  Questions?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  <a:latin typeface="Aptos"/>
              </a:defRPr>
            </a:pPr>
            <a:r>
              <a:t>AI + GIS + Surveying | Engineering Excellence for Atmanirbhar Bharat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